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2563EB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011680" y="4206240"/>
            <a:ext cx="5029200" cy="5029200"/>
          </a:xfrm>
          <a:prstGeom prst="ellipse">
            <a:avLst/>
          </a:prstGeom>
          <a:solidFill>
            <a:srgbClr val="F43F5E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6" name="Image 0" descr="C:\proyectos\gmao\frontend\public\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85800"/>
            <a:ext cx="566928" cy="5248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6858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GMAO CMMS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23317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SISTEMA DE GESTIÓN DE MANTENIMIENTO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2697480"/>
            <a:ext cx="9601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Todo tu mantenimiento,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 una única plataforma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40080" y="41605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Órdenes de trabajo, activos, inventario, mantenimiento preventivo y un asistente de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inteligencia artificial que entiende el contexto real de tu operación.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53492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141B2E"/>
          </a:solidFill>
          <a:ln w="12700">
            <a:solidFill>
              <a:srgbClr val="2A365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534924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Angular 21 + PrimeNG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16352" y="5349240"/>
            <a:ext cx="2244852" cy="384048"/>
          </a:xfrm>
          <a:prstGeom prst="roundRect">
            <a:avLst>
              <a:gd name="adj" fmla="val 50000"/>
            </a:avLst>
          </a:prstGeom>
          <a:solidFill>
            <a:srgbClr val="141B2E"/>
          </a:solidFill>
          <a:ln w="12700">
            <a:solidFill>
              <a:srgbClr val="2A365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816352" y="5349240"/>
            <a:ext cx="22448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Spring Boot 4 · Java 21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225796" y="5349240"/>
            <a:ext cx="1467612" cy="384048"/>
          </a:xfrm>
          <a:prstGeom prst="roundRect">
            <a:avLst>
              <a:gd name="adj" fmla="val 50000"/>
            </a:avLst>
          </a:prstGeom>
          <a:solidFill>
            <a:srgbClr val="141B2E"/>
          </a:solidFill>
          <a:ln w="12700">
            <a:solidFill>
              <a:srgbClr val="2A365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25796" y="5349240"/>
            <a:ext cx="14676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15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858000" y="5349240"/>
            <a:ext cx="1545336" cy="384048"/>
          </a:xfrm>
          <a:prstGeom prst="roundRect">
            <a:avLst>
              <a:gd name="adj" fmla="val 50000"/>
            </a:avLst>
          </a:prstGeom>
          <a:solidFill>
            <a:srgbClr val="141B2E"/>
          </a:solidFill>
          <a:ln w="12700">
            <a:solidFill>
              <a:srgbClr val="2A365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0" y="5349240"/>
            <a:ext cx="15453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Compose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6217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Presentación de producto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96189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9618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 que vamos a ver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74520"/>
            <a:ext cx="73152" cy="7132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87452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828800" y="194767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Visión general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828800" y="2276856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Qué es GMAO CMMS y qué problema resuelve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715768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715768"/>
            <a:ext cx="73152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71576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828800" y="2788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Módulos funcionales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828800" y="3118104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Órdenes, activos, localizaciones, inventario, preventivo, dashboard e IA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557016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57016"/>
            <a:ext cx="73152" cy="713232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557016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828800" y="36301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Seguridad y trazabilidad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828800" y="3959352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Roles, permisos y auditoría de cada operación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398264"/>
            <a:ext cx="73152" cy="71323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4398264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948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828800" y="447141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Tecnología y despliegue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828800" y="480060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Stack, arquitectura y puesta en marcha con Docker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239512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5239512"/>
            <a:ext cx="73152" cy="71323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5"/>
          <p:cNvSpPr/>
          <p:nvPr/>
        </p:nvSpPr>
        <p:spPr>
          <a:xfrm>
            <a:off x="960120" y="523951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828800" y="531266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Experiencia de usuario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828800" y="5641848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moderno, accesible y multi-idioma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196035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1960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VISIÓN GENERAL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6583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Qué es GMAO CMMS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6126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 única plataforma para planificar, ejecutar y controlar todo el mantenimiento industrial: diez módulos integrados que cubren el ciclo completo, desde la apertura de una orden hasta su cierre y análisis.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46304" cy="146304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788920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Asistente de IA con contexto real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32688" y="308152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Entiende órdenes, activos y planes para sugerir, priorizar y resumir la actividad.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3675888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363016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Funciona online y offline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32688" y="3922776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PWA instalable con caché local y sincronización de cambios en segundo plano.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517136"/>
            <a:ext cx="146304" cy="146304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4471416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Seguro por diseño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32688" y="4764024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Roles ADMIN, MANAGER y TECH aplicados en el backend, con auditoría completa.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5358384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5312664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Interfaz moderna y accesible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32688" y="5605272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Modo claro/oscuro y soporte multi-idioma (español/inglés).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086600" y="960120"/>
            <a:ext cx="4434840" cy="5394960"/>
          </a:xfrm>
          <a:prstGeom prst="roundRect">
            <a:avLst>
              <a:gd name="adj" fmla="val 2474"/>
            </a:avLst>
          </a:prstGeom>
          <a:solidFill>
            <a:srgbClr val="0B1324"/>
          </a:solidFill>
          <a:ln/>
          <a:effectLst>
            <a:outerShdw sx="100000" sy="100000" kx="0" ky="0" algn="bl" rotWithShape="0" blurRad="177800" dist="50800" dir="5400000">
              <a:srgbClr val="000000">
                <a:alpha val="25000"/>
              </a:srgbClr>
            </a:outerShdw>
          </a:effectLst>
        </p:spPr>
      </p:sp>
      <p:pic>
        <p:nvPicPr>
          <p:cNvPr id="19" name="Image 0" descr="C:\proyectos\gmao\frontend\public\im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69480" y="1417320"/>
            <a:ext cx="4069080" cy="1723644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452360" y="333756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“Todo tu mantenimiento,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 una única plataforma”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52360" y="4343400"/>
            <a:ext cx="548640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52360" y="46177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7452360" y="50749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módulos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686800" y="46177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8686800" y="50749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921240" y="46177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24/7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9921240" y="50749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disponible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7117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67117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Diez módulos integrados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uno cubre una necesidad concreta del mantenimiento, conectados entre sí.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57400"/>
            <a:ext cx="2021373" cy="73152"/>
          </a:xfrm>
          <a:prstGeom prst="roundRect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358158" y="2313432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F59E0B">
              <a:alpha val="1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358158" y="231343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🛠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4944" y="3017520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Órdenes de trabajo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62621" y="2057400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62621" y="2057400"/>
            <a:ext cx="2021373" cy="73152"/>
          </a:xfrm>
          <a:prstGeom prst="roundRect">
            <a:avLst/>
          </a:prstGeom>
          <a:solidFill>
            <a:srgbClr val="3B82F6"/>
          </a:solidFill>
          <a:ln/>
        </p:spPr>
      </p:sp>
      <p:sp>
        <p:nvSpPr>
          <p:cNvPr id="13" name="Shape 11"/>
          <p:cNvSpPr/>
          <p:nvPr/>
        </p:nvSpPr>
        <p:spPr>
          <a:xfrm>
            <a:off x="3580699" y="2313432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3B82F6">
              <a:alpha val="1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580699" y="231343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📦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917485" y="3017520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Activos y tipos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85161" y="2057400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85161" y="2057400"/>
            <a:ext cx="2021373" cy="73152"/>
          </a:xfrm>
          <a:prstGeom prst="roundRect">
            <a:avLst/>
          </a:prstGeom>
          <a:solidFill>
            <a:srgbClr val="06B6D4"/>
          </a:solidFill>
          <a:ln/>
        </p:spPr>
      </p:sp>
      <p:sp>
        <p:nvSpPr>
          <p:cNvPr id="18" name="Shape 16"/>
          <p:cNvSpPr/>
          <p:nvPr/>
        </p:nvSpPr>
        <p:spPr>
          <a:xfrm>
            <a:off x="5803240" y="2313432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06B6D4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803240" y="231343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🗺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140025" y="3017520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Localizaciones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07702" y="2057400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07702" y="2057400"/>
            <a:ext cx="2021373" cy="73152"/>
          </a:xfrm>
          <a:prstGeom prst="roundRect">
            <a:avLst/>
          </a:prstGeom>
          <a:solidFill>
            <a:srgbClr val="10B981"/>
          </a:solidFill>
          <a:ln/>
        </p:spPr>
      </p:sp>
      <p:sp>
        <p:nvSpPr>
          <p:cNvPr id="23" name="Shape 21"/>
          <p:cNvSpPr/>
          <p:nvPr/>
        </p:nvSpPr>
        <p:spPr>
          <a:xfrm>
            <a:off x="8025780" y="2313432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10B981">
              <a:alpha val="1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8025780" y="231343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🧰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362566" y="3017520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Inventario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30243" y="2057400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530243" y="2057400"/>
            <a:ext cx="2021373" cy="73152"/>
          </a:xfrm>
          <a:prstGeom prst="roundRect">
            <a:avLst/>
          </a:prstGeom>
          <a:solidFill>
            <a:srgbClr val="F97316"/>
          </a:solidFill>
          <a:ln/>
        </p:spPr>
      </p:sp>
      <p:sp>
        <p:nvSpPr>
          <p:cNvPr id="28" name="Shape 26"/>
          <p:cNvSpPr/>
          <p:nvPr/>
        </p:nvSpPr>
        <p:spPr>
          <a:xfrm>
            <a:off x="10248321" y="2313432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F97316">
              <a:alpha val="1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10248321" y="231343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📅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9585107" y="3017520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Preventivo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3858768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3858768"/>
            <a:ext cx="2021373" cy="73152"/>
          </a:xfrm>
          <a:prstGeom prst="roundRect">
            <a:avLst/>
          </a:prstGeom>
          <a:solidFill>
            <a:srgbClr val="6366F1"/>
          </a:solidFill>
          <a:ln/>
        </p:spPr>
      </p:sp>
      <p:sp>
        <p:nvSpPr>
          <p:cNvPr id="33" name="Shape 31"/>
          <p:cNvSpPr/>
          <p:nvPr/>
        </p:nvSpPr>
        <p:spPr>
          <a:xfrm>
            <a:off x="1358158" y="4114800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1358158" y="411480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694944" y="4818888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Dashboard y KPIs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862621" y="3858768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62621" y="3858768"/>
            <a:ext cx="2021373" cy="73152"/>
          </a:xfrm>
          <a:prstGeom prst="roundRect">
            <a:avLst/>
          </a:prstGeom>
          <a:solidFill>
            <a:srgbClr val="F43F5E"/>
          </a:solidFill>
          <a:ln/>
        </p:spPr>
      </p:sp>
      <p:sp>
        <p:nvSpPr>
          <p:cNvPr id="38" name="Shape 36"/>
          <p:cNvSpPr/>
          <p:nvPr/>
        </p:nvSpPr>
        <p:spPr>
          <a:xfrm>
            <a:off x="3580699" y="4114800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F43F5E">
              <a:alpha val="15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3580699" y="411480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2917485" y="4818888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Asistente de IA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085161" y="3858768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85161" y="3858768"/>
            <a:ext cx="2021373" cy="73152"/>
          </a:xfrm>
          <a:prstGeom prst="roundRect">
            <a:avLst/>
          </a:prstGeom>
          <a:solidFill>
            <a:srgbClr val="64748B"/>
          </a:solidFill>
          <a:ln/>
        </p:spPr>
      </p:sp>
      <p:sp>
        <p:nvSpPr>
          <p:cNvPr id="43" name="Shape 41"/>
          <p:cNvSpPr/>
          <p:nvPr/>
        </p:nvSpPr>
        <p:spPr>
          <a:xfrm>
            <a:off x="5803240" y="4114800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64748B">
              <a:alpha val="15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5803240" y="411480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5140025" y="4818888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Usuarios y roles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307702" y="3858768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307702" y="3858768"/>
            <a:ext cx="2021373" cy="73152"/>
          </a:xfrm>
          <a:prstGeom prst="roundRect">
            <a:avLst/>
          </a:prstGeom>
          <a:solidFill>
            <a:srgbClr val="0D948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25780" y="4114800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0D9488">
              <a:alpha val="15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8025780" y="411480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🧾</a:t>
            </a:r>
            <a:endParaRPr lang="en-US" sz="2400" dirty="0"/>
          </a:p>
        </p:txBody>
      </p:sp>
      <p:sp>
        <p:nvSpPr>
          <p:cNvPr id="50" name="Text 48"/>
          <p:cNvSpPr/>
          <p:nvPr/>
        </p:nvSpPr>
        <p:spPr>
          <a:xfrm>
            <a:off x="7362566" y="4818888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Auditoría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530243" y="3858768"/>
            <a:ext cx="2021373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530243" y="3858768"/>
            <a:ext cx="2021373" cy="73152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53" name="Shape 51"/>
          <p:cNvSpPr/>
          <p:nvPr/>
        </p:nvSpPr>
        <p:spPr>
          <a:xfrm>
            <a:off x="10248321" y="4114800"/>
            <a:ext cx="585216" cy="585216"/>
          </a:xfrm>
          <a:prstGeom prst="roundRect">
            <a:avLst>
              <a:gd name="adj" fmla="val 25000"/>
            </a:avLst>
          </a:prstGeom>
          <a:solidFill>
            <a:srgbClr val="8B5CF6">
              <a:alpha val="15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10248321" y="411480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⚙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9585107" y="4818888"/>
            <a:ext cx="191164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Configuración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5029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240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Órdenes de</a:t>
            </a:r>
            <a:endParaRPr lang="en-US" sz="2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trabajo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544068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corazón operativo del sistema: todo el ciclo de vida del mantenimiento correctivo y preventivo.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2910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GMAO CMMS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11880" y="6858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13048" y="9052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59E0B">
              <a:alpha val="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813048" y="9052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7589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Ciclo completo: apertura, asignación a técnicos y estados (abierta, asignada, en curso, en espera, cerrada).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11880" y="16002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13048" y="18196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59E0B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18196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6733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Prioridades con iconos (Urgente, Alta, Media, Baja) y etiquetas de estado con color.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11880" y="25146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27340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59E0B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813048" y="27340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97680" y="25877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Vínculo con el activo, horas estimadas y reales, y artículos de inventario asociados.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11880" y="34290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13048" y="36484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59E0B">
              <a:alpha val="1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813048" y="36484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97680" y="35021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Origen manual o preventivo, con trazabilidad del creador y del técnico asignado.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611880" y="43434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13048" y="45628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59E0B">
              <a:alpha val="1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813048" y="45628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297680" y="44165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técnico solo opera sobre sus órdenes asignadas y con las transiciones permitidas.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0"/>
            <a:ext cx="54864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5029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240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Activos y tipos</a:t>
            </a:r>
            <a:endParaRPr lang="en-US" sz="2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 activo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544068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catálogo completo del parque de equipos, clasificado y siempre localizable.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2910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GMAO CMMS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11880" y="6858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13048" y="9052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3B82F6">
              <a:alpha val="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813048" y="9052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7589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Catálogo de equipos con número de serie, criticidad, estado y horas de uso.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11880" y="16002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13048" y="18196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3B82F6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18196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6733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Tipos de activo con código e icono para una taxonomía consistente.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11880" y="25146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27340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3B82F6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813048" y="27340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97680" y="25877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equipo queda ubicado en la estructura de planta.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11880" y="34290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13048" y="36484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3B82F6">
              <a:alpha val="1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813048" y="36484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97680" y="35021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Filtros por tipo, criticidad, estado y ubicación en el listado.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611880" y="43434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13048" y="45628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3B82F6">
              <a:alpha val="1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813048" y="45628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297680" y="44165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Indicadores de criticidad y disponibilidad de flota en el dashboard.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5029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240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Localizaciones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544068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jerarquía completa de la planta, organizada visualmente y protegida frente a errores.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2910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GMAO CMMS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11880" y="6858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13048" y="9052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06B6D4">
              <a:alpha val="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813048" y="9052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7589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Estructura jerárquica de la planta: empresa raíz, áreas y ubicaciones.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11880" y="16002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13048" y="18196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06B6D4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18196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6733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Reorganización por arrastre (drag &amp; drop) de localizaciones y activos.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11880" y="25146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27340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06B6D4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813048" y="27340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97680" y="25877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Protección de la raíz "Empresa" contra modificaciones o borrados accidentales.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11880" y="34290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13048" y="36484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06B6D4">
              <a:alpha val="1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813048" y="36484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97680" y="35021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activo queda ubicado en su área para una visión clara de la operación.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5029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0B9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240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Inventario de</a:t>
            </a:r>
            <a:endParaRPr lang="en-US" sz="2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piezas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544068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Repuestos y consumibles, con trazabilidad directa hacia las órdenes que los usan.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2910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GMAO CMMS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11880" y="6858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13048" y="9052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10B981">
              <a:alpha val="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813048" y="9052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7589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Catálogo con código, categoría y unidad de medida.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11880" y="16002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13048" y="18196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10B981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18196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6733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 de stock actual y mínimo para anticipar reposiciones.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11880" y="25146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27340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10B981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813048" y="27340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97680" y="25877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Vínculo directo entre artículos y órdenes de trabajo.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11880" y="34290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13048" y="36484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10B981">
              <a:alpha val="1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813048" y="36484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97680" y="35021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Consulta de qué órdenes utilizan cada artículo (trazabilidad de uso).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5029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9731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240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Mantenimiento</a:t>
            </a:r>
            <a:endParaRPr lang="en-US" sz="2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preventivo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544068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reactivo a proactivo: el sistema genera el trabajo antes de que surja el fallo.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2910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GMAO CMMS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11880" y="6858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13048" y="9052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97316">
              <a:alpha val="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813048" y="9052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7589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Planes preventivos asociados a un activo con frecuencia configurable (en días).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11880" y="16002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13048" y="18196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97316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18196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6733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Generación automática de órdenes de trabajo a partir de los planes.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11880" y="25146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27340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97316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813048" y="27340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97680" y="25877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Identificación del origen preventivo o manual de cada orden.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11880" y="34290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13048" y="36484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97316">
              <a:alpha val="1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813048" y="36484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97680" y="35021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Permite programar el mantenimiento rutinario y evitar fallos inesperados.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0"/>
            <a:ext cx="54864" cy="6858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5029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6366F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240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Dashboard</a:t>
            </a:r>
            <a:endParaRPr lang="en-US" sz="2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 KPIs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544068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Visibilidad en tiempo real de toda la operación, desde un único panel.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2910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366F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GMAO CMMS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11880" y="6858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13048" y="9052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813048" y="9052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7589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KPIs en tiempo real: pendientes, urgentes, completadas, en curso y disponibilidad de flota.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11880" y="16002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13048" y="18196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18196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6733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Gráficos de estado (dona) y tendencia mensual de órdenes abiertas/cerradas.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11880" y="25146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27340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813048" y="27340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97680" y="25877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Órdenes activas recientes y alertas del sistema.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11880" y="34290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13048" y="36484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813048" y="36484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97680" y="35021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Acceso rápido a todos los módulos desde el panel.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0"/>
            <a:ext cx="54864" cy="685800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5029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MÓDULO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240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Asistente</a:t>
            </a:r>
            <a:endParaRPr lang="en-US" sz="2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 IA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544068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gran diferenciador: un copiloto que conoce el estado real de tu mantenimiento.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2910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GMAO CMMS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11880" y="6858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13048" y="9052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43F5E">
              <a:alpha val="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813048" y="9052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7589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 con contexto real de órdenes, activos y planes preventivos.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11880" y="16002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13048" y="18196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43F5E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18196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6733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Sugiere órdenes de trabajo estructuradas (título, descripción, prioridad, checklist).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11880" y="25146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27340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43F5E">
              <a:alpha val="1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813048" y="27340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97680" y="25877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Prioriza órdenes con justificación y genera resúmenes ejecutivos.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11880" y="34290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13048" y="36484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43F5E">
              <a:alpha val="1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813048" y="36484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97680" y="35021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Multi-proveedor configurable desde la interfaz (OpenAI, Anthropic, Google, Opencode, Ollama…).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611880" y="4343400"/>
            <a:ext cx="7939735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13048" y="4562856"/>
            <a:ext cx="347472" cy="347472"/>
          </a:xfrm>
          <a:prstGeom prst="roundRect">
            <a:avLst>
              <a:gd name="adj" fmla="val 23684"/>
            </a:avLst>
          </a:prstGeom>
          <a:solidFill>
            <a:srgbClr val="F43F5E">
              <a:alpha val="1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813048" y="45628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3F5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297680" y="4416552"/>
            <a:ext cx="70253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Claves cifradas y medición de coste/tokens por consulta.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6400800" cy="6400800"/>
          </a:xfrm>
          <a:prstGeom prst="ellipse">
            <a:avLst/>
          </a:prstGeom>
          <a:solidFill>
            <a:srgbClr val="F43F5E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2468880"/>
            <a:ext cx="822960" cy="822960"/>
          </a:xfrm>
          <a:prstGeom prst="roundRect">
            <a:avLst>
              <a:gd name="adj" fmla="val 28000"/>
            </a:avLst>
          </a:prstGeom>
          <a:solidFill>
            <a:srgbClr val="F43F5E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24688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0"/>
            <a:ext cx="671170" cy="310896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474720"/>
            <a:ext cx="67117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SECCIÓN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8404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Seguridad y trazabilidad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Roles y permisos, aplicados en el backend, con auditoría completa de cada operación.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821131" cy="310896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8211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SEGURIDAD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Roles y permisos (RBAC)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Tres roles bien definidos, aplicados de forma autoritativa en el backend.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3317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194560"/>
            <a:ext cx="9905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ADMIN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463040" y="2487168"/>
            <a:ext cx="9905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Gestiona usuarios, roles, configuración de IA y auditoría. Control total sobre el sistema.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3163824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9242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392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63040" y="3255264"/>
            <a:ext cx="9905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MANAGER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463040" y="3547872"/>
            <a:ext cx="9905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 y gestiona órdenes, activos, preventivo e inventario. Asigna técnicos.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224528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45312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4315968"/>
            <a:ext cx="9905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463040" y="4608576"/>
            <a:ext cx="9905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Ejecuta y actualiza sus órdenes asignadas, registra horas y cambia estados permitidos.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5285232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513832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43F5E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513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🔑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63040" y="5376672"/>
            <a:ext cx="9905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Autenticación JWT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463040" y="5669280"/>
            <a:ext cx="9905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Stateless y segura; los permisos se reflejan también en la interfaz.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046074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4607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TRAZABILIDAD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Auditoría y seguridad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operación queda registrada: quién, cuándo y qué hizo.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3317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194560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Registro completo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463040" y="2487168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Altas, modificaciones y borrados con usuario, rol y fecha.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96432" y="2103120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79312" y="23317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379312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🔍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19392" y="2194560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Filtros avanzados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019392" y="2487168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categoría, acción, entidad, usuario y rango de fechas.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163824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9242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43F5E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392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3255264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Datos saneados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463040" y="3547872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cuerpo de la petición nunca incluye contraseñas ni claves.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96432" y="3163824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9312" y="339242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6379312" y="3392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019392" y="3255264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Retención configurable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019392" y="3547872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Define cuánto tiempo se conservan los registros.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4224528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445312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🚫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463040" y="4315968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Errores claros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463040" y="4608576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Accesos no autorizados devuelven 401/403 con mensajes explícitos.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96432" y="4224528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9312" y="445312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0B981"/>
          </a:solidFill>
          <a:ln/>
        </p:spPr>
      </p:sp>
      <p:sp>
        <p:nvSpPr>
          <p:cNvPr id="33" name="Text 31"/>
          <p:cNvSpPr/>
          <p:nvPr/>
        </p:nvSpPr>
        <p:spPr>
          <a:xfrm>
            <a:off x="6379312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✅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19392" y="4315968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Sin rodeos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7019392" y="4608576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 permisos no se pueden saltar desde el frontend.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896112" cy="31089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TECNOLOGÍA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Stack y despliegue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Arquitectura moderna, todo el entorno se levanta con un solo comando.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3317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43F5E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194560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Frontend — Angular 21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463040" y="2487168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PrimeNG, signals, zoneless y lazy loading.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96432" y="2103120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79312" y="23317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6379312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19392" y="2194560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Backend — Spring Boot 4.1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019392" y="2487168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 21 con seguridad aplicada por métodos.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163824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9242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392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DB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3255264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PostgreSQL 15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463040" y="3547872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Migraciones versionadas y control de esquema.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96432" y="3163824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9312" y="339242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8B5CF6"/>
          </a:solidFill>
          <a:ln/>
        </p:spPr>
      </p:sp>
      <p:sp>
        <p:nvSpPr>
          <p:cNvPr id="23" name="Text 21"/>
          <p:cNvSpPr/>
          <p:nvPr/>
        </p:nvSpPr>
        <p:spPr>
          <a:xfrm>
            <a:off x="6379312" y="3392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📱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019392" y="3255264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PWA instalable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019392" y="3547872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Sincronización offline con caché y cola de cambios.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4224528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445312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🐳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463040" y="4315968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Docker Compose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463040" y="4608576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Despliegue completo desde cero en un solo comando.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96432" y="4224528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9312" y="445312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59E0B"/>
          </a:solidFill>
          <a:ln/>
        </p:spPr>
      </p:sp>
      <p:sp>
        <p:nvSpPr>
          <p:cNvPr id="33" name="Text 31"/>
          <p:cNvSpPr/>
          <p:nvPr/>
        </p:nvSpPr>
        <p:spPr>
          <a:xfrm>
            <a:off x="6379312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🔐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19392" y="4315968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Seguro por defecto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7019392" y="4608576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JWT, CORS configurable y respuestas de error en JSON.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96189" cy="31089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9618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DISEÑO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Experiencia de usuario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 interfaz moderna, coherente y accesible en cada pantalla.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3317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8B5CF6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✎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194560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Formularios modernos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463040" y="2487168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Etiquetas de color, iconos y campos destacados.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96432" y="2103120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79312" y="23317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379312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⇅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19392" y="2194560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Listados potentes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019392" y="2487168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Ordenables y filtrables por columna, con búsqueda global.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163824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9242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64748B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392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🌗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3255264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Claro / oscuro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463040" y="3547872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Presets de color y soporte multi-idioma.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96432" y="3163824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9312" y="339242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6379312" y="3392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🌐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019392" y="3255264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Landing pública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019392" y="3547872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Presentación de la aplicación antes de iniciar sesión.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4224528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445312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43F5E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🤖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463040" y="4315968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IA en todas partes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463040" y="4608576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Asistente accesible desde cualquier pantalla.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96432" y="4224528"/>
            <a:ext cx="535518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9312" y="445312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0B981"/>
          </a:solidFill>
          <a:ln/>
        </p:spPr>
      </p:sp>
      <p:sp>
        <p:nvSpPr>
          <p:cNvPr id="33" name="Text 31"/>
          <p:cNvSpPr/>
          <p:nvPr/>
        </p:nvSpPr>
        <p:spPr>
          <a:xfrm>
            <a:off x="6379312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📶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19392" y="4315968"/>
            <a:ext cx="434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Offline-first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7019392" y="4608576"/>
            <a:ext cx="434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app sigue funcionando sin conexión.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200400"/>
            <a:ext cx="6400800" cy="6400800"/>
          </a:xfrm>
          <a:prstGeom prst="ellipse">
            <a:avLst/>
          </a:prstGeom>
          <a:solidFill>
            <a:srgbClr val="2563EB">
              <a:alpha val="15000"/>
            </a:srgbClr>
          </a:solidFill>
          <a:ln/>
        </p:spPr>
      </p:sp>
      <p:pic>
        <p:nvPicPr>
          <p:cNvPr id="3" name="Image 0" descr="C:\proyectos\gmao\frontend\public\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8648" y="1051560"/>
            <a:ext cx="914400" cy="84764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194560"/>
            <a:ext cx="944849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¿Listo para optimizar</a:t>
            </a:r>
            <a:endParaRPr lang="en-US" sz="3600" dirty="0"/>
          </a:p>
          <a:p>
            <a:pPr algn="ctr"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tu mantenimiento?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371600" y="3703320"/>
            <a:ext cx="94484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Explora los módulos, configura tu proveedor de IA y comienza a gestionar</a:t>
            </a:r>
            <a:endParaRPr lang="en-US" sz="14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tus órdenes de trabajo hoy mismo.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90008" y="461772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2563EB"/>
          </a:solidFill>
          <a:ln/>
        </p:spPr>
      </p:sp>
      <p:sp>
        <p:nvSpPr>
          <p:cNvPr id="7" name="Text 4"/>
          <p:cNvSpPr/>
          <p:nvPr/>
        </p:nvSpPr>
        <p:spPr>
          <a:xfrm>
            <a:off x="5090008" y="461772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Gracias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B1324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652881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GMAO CMMS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637215" y="652881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GMAO CMMS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GMAO CMMS — Presentación</dc:title>
  <dc:subject>PptxGenJS Presentation</dc:subject>
  <dc:creator>GMAO CMMS</dc:creator>
  <cp:lastModifiedBy>GMAO CMMS</cp:lastModifiedBy>
  <cp:revision>1</cp:revision>
  <dcterms:created xsi:type="dcterms:W3CDTF">2026-08-23T22:00:48Z</dcterms:created>
  <dcterms:modified xsi:type="dcterms:W3CDTF">2026-08-23T22:00:48Z</dcterms:modified>
</cp:coreProperties>
</file>