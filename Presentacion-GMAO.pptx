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436" y="-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3888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2563EB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206240"/>
            <a:ext cx="5029200" cy="5029200"/>
          </a:xfrm>
          <a:prstGeom prst="ellipse">
            <a:avLst/>
          </a:prstGeom>
          <a:solidFill>
            <a:srgbClr val="F43F5E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6" name="Image 0" descr="C:\proyectos\gmao\frontend\public\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85800"/>
            <a:ext cx="566928" cy="5248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685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SISTEMA DE GESTIÓN DE MANTENIMIENTO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26974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Todo tu mantenimiento,</a:t>
            </a:r>
            <a:endParaRPr lang="en-US" sz="44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 una única plataforma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 de trabajo, activos, inventario, mantenimiento preventivo y un asistente de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inteligencia artificial que entiende el contexto real de tu operación.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53492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3492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21 + PrimeNG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16352" y="5349240"/>
            <a:ext cx="2244852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16352" y="5349240"/>
            <a:ext cx="22448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 4 · Java 21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225796" y="5349240"/>
            <a:ext cx="1467612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25796" y="5349240"/>
            <a:ext cx="14676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15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0" y="5349240"/>
            <a:ext cx="1545336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0" y="5349240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de producto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96189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9618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 que vamos a 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73152" cy="7132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0" y="19476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Visión general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28800" y="227685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es GMAO CMMS y qué problema resuelve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715768"/>
            <a:ext cx="73152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Módulos funcionales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28800" y="3118104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Órdenes, activos, localizaciones, inventario, preventivo, dashboard e IA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57016"/>
            <a:ext cx="73152" cy="71323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828800" y="3630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 y trazabilidad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3959352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Roles, permisos y auditoría de cada operación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398264"/>
            <a:ext cx="73152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828800" y="447141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Tecnología y despliegue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828800" y="48006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Stack, arquitectura y puesta en marcha con Docker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239512"/>
            <a:ext cx="73152" cy="71323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28800" y="531266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Experiencia de usuario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828800" y="564184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moderno, accesible y multi-idioma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85535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9927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VISIÓN GENERAL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Qué es GMAO CMMS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6126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única plataforma para planificar, ejecutar y controlar todo el mantenimiento industrial: diez módulos integrados que cubren el ciclo completo, desde la apertura de una orden hasta su cierre y análisis.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78892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 de IA con contexto real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308152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Entiende órdenes, activos y planes para sugerir, priorizar y resumir la actividad.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67588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63016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Funciona online y offline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392277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 instalable con caché local y sincronización de cambios en segundo plano.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517136"/>
            <a:ext cx="146304" cy="14630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4471416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Seguro por diseño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76402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ADMIN, MANAGER y TECH aplicados en el backend, con auditoría completa.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358384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312664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Interfaz moderna y accesible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5605272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Modo claro/oscuro y soporte multi-idioma (español/inglés).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23760" y="2478628"/>
            <a:ext cx="4554766" cy="2843784"/>
          </a:xfrm>
          <a:prstGeom prst="roundRect">
            <a:avLst>
              <a:gd name="adj" fmla="val 2474"/>
            </a:avLst>
          </a:prstGeom>
          <a:solidFill>
            <a:srgbClr val="0B1324"/>
          </a:solidFill>
          <a:ln/>
          <a:effectLst>
            <a:outerShdw blurRad="1778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pic>
        <p:nvPicPr>
          <p:cNvPr id="19" name="Image 0" descr="C:\proyectos\gmao\frontend\public\ima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66603" y="2839212"/>
            <a:ext cx="4069080" cy="1723644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40478" cy="3383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2404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Diez módulos integrados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uno cubre una necesidad concreta del mantenimiento, conectados entre sí.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57400"/>
            <a:ext cx="2021373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358158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358158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4944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Órdenes de trabajo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62621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62621" y="2057400"/>
            <a:ext cx="2021373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0699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580699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17485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Activos y tipos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85161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85161" y="2057400"/>
            <a:ext cx="2021373" cy="73152"/>
          </a:xfrm>
          <a:prstGeom prst="roundRect">
            <a:avLst/>
          </a:prstGeom>
          <a:solidFill>
            <a:srgbClr val="06B6D4"/>
          </a:solidFill>
          <a:ln/>
        </p:spPr>
      </p:sp>
      <p:sp>
        <p:nvSpPr>
          <p:cNvPr id="18" name="Shape 16"/>
          <p:cNvSpPr/>
          <p:nvPr/>
        </p:nvSpPr>
        <p:spPr>
          <a:xfrm>
            <a:off x="5803240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803240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🗺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140025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Localizaciones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07702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07702" y="2057400"/>
            <a:ext cx="2021373" cy="73152"/>
          </a:xfrm>
          <a:prstGeom prst="roundRect">
            <a:avLst/>
          </a:prstGeom>
          <a:solidFill>
            <a:srgbClr val="10B981"/>
          </a:solidFill>
          <a:ln/>
        </p:spPr>
      </p:sp>
      <p:sp>
        <p:nvSpPr>
          <p:cNvPr id="23" name="Shape 21"/>
          <p:cNvSpPr/>
          <p:nvPr/>
        </p:nvSpPr>
        <p:spPr>
          <a:xfrm>
            <a:off x="8025780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8025780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🧰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362566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Inventario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0243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30243" y="2057400"/>
            <a:ext cx="2021373" cy="73152"/>
          </a:xfrm>
          <a:prstGeom prst="roundRect">
            <a:avLst/>
          </a:prstGeom>
          <a:solidFill>
            <a:srgbClr val="F97316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48321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0248321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585107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Preventivo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858768"/>
            <a:ext cx="2021373" cy="73152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3" name="Shape 31"/>
          <p:cNvSpPr/>
          <p:nvPr/>
        </p:nvSpPr>
        <p:spPr>
          <a:xfrm>
            <a:off x="1358158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358158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94944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Dashboard y KPIs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62621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62621" y="3858768"/>
            <a:ext cx="2021373" cy="73152"/>
          </a:xfrm>
          <a:prstGeom prst="roundRect">
            <a:avLst/>
          </a:prstGeom>
          <a:solidFill>
            <a:srgbClr val="F43F5E"/>
          </a:solidFill>
          <a:ln/>
        </p:spPr>
      </p:sp>
      <p:sp>
        <p:nvSpPr>
          <p:cNvPr id="38" name="Shape 36"/>
          <p:cNvSpPr/>
          <p:nvPr/>
        </p:nvSpPr>
        <p:spPr>
          <a:xfrm>
            <a:off x="3580699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580699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2917485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 de IA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85161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85161" y="3858768"/>
            <a:ext cx="2021373" cy="73152"/>
          </a:xfrm>
          <a:prstGeom prst="roundRect">
            <a:avLst/>
          </a:prstGeom>
          <a:solidFill>
            <a:srgbClr val="64748B"/>
          </a:solidFill>
          <a:ln/>
        </p:spPr>
      </p:sp>
      <p:sp>
        <p:nvSpPr>
          <p:cNvPr id="43" name="Shape 41"/>
          <p:cNvSpPr/>
          <p:nvPr/>
        </p:nvSpPr>
        <p:spPr>
          <a:xfrm>
            <a:off x="5803240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64748B">
              <a:alpha val="1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5803240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5140025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Usuarios y roles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07702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07702" y="3858768"/>
            <a:ext cx="2021373" cy="73152"/>
          </a:xfrm>
          <a:prstGeom prst="roundRect">
            <a:avLst/>
          </a:prstGeom>
          <a:solidFill>
            <a:srgbClr val="0D948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25780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0D9488">
              <a:alpha val="1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8025780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🧾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7362566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Auditoría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530243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530243" y="3858768"/>
            <a:ext cx="2021373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53" name="Shape 51"/>
          <p:cNvSpPr/>
          <p:nvPr/>
        </p:nvSpPr>
        <p:spPr>
          <a:xfrm>
            <a:off x="10248321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8B5CF6">
              <a:alpha val="15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10248321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⚙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9585107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Configuración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Órdenes de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trabajo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corazón operativo del sistema: todo el ciclo de vida del mantenimiento correctivo y preventivo.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Ciclo completo: apertura, asignación a técnicos y estados (abierta, asignada, en curso, en espera, cerrada).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Prioridades con iconos (Urgente, Alta, Media, Baja) y etiquetas de estado con color.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Vínculo con el activo, horas estimadas y reales, y artículos de inventario asociados.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Origen manual o preventivo, con trazabilidad del creador y del técnico asignado.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técnico solo opera sobre sus órdenes asignadas y con las transiciones permitidas.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Activos y tipos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 activo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catálogo completo del parque de equipos, clasificado y siempre localizable.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Catálogo de equipos con número de serie, criticidad, estado y horas de uso.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de activo con código e icono para una taxonomía consistente.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equipo queda ubicado en la estructura de planta.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Filtros por tipo, criticidad, estado y ubicación en el listado.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Indicadores de criticidad y disponibilidad de flota en el dashboard.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Localizaciones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jerarquía completa de la planta, organizada visualmente y protegida frente a errores.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Estructura jerárquica de la planta: empresa raíz, áreas y ubicaciones.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Reorganización por arrastre (drag &amp; drop) de localizaciones y activos.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Protección de la raíz "Empresa" contra modificaciones o borrados accidentales.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activo queda ubicado en su área para una visión clara de la operación.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Inventario de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piezas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Repuestos y consumibles, con trazabilidad directa hacia las órdenes que los usan.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Catálogo con código, categoría y unidad de medida.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de stock actual y mínimo para anticipar reposiciones.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Vínculo directo entre artículos y órdenes de trabajo.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 de qué órdenes utilizan cada artículo (trazabilidad de uso).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Mantenimiento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preventivo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reactivo a proactivo: el sistema genera el trabajo antes de que surja el fallo.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Planes preventivos asociados a un activo con frecuencia configurable (en días).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automática de órdenes de trabajo a partir de los planes.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Identificación del origen preventivo o manual de cada orden.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 programar el mantenimiento rutinario y evitar fallos inesperados.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Dashboard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 KPIs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Visibilidad en tiempo real de toda la operación, desde un único panel.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en tiempo real: pendientes, urgentes, completadas, en curso y disponibilidad de flota.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Gráficos de estado (dona) y tendencia mensual de órdenes abiertas/cerradas.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 activas recientes y alertas del sistema.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 rápido a todos los módulos desde el panel.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</a:t>
            </a:r>
            <a:endParaRPr lang="en-US" sz="26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 IA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gran diferenciador: un copiloto que conoce el estado real de tu mantenimiento.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con contexto real de órdenes, activos y planes preventivos.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Sugiere órdenes de trabajo estructuradas (título, descripción, prioridad, checklist).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Prioriza órdenes con justificación y genera resúmenes ejecutivos.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Multi-proveedor configurable desde la interfaz (OpenAI, Anthropic, Google, Opencode, Ollama…).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Claves cifradas y medición de coste/tokens por consulta.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F43F5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46888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43F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2468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966778" cy="27432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474720"/>
            <a:ext cx="96677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SECCIÓN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 y trazabilidad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y permisos, aplicados en el backend, con auditoría completa de cada operación.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97598" cy="310896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1975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Roles y permisos (RBAC)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roles bien definidos, aplicados de forma autoritativa en el backend.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Gestiona usuarios, roles, configuración de IA y auditoría. Control total sobre el sistema.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3255264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63040" y="3547872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 y gestiona órdenes, activos, preventivo e inventario. Asigna técnicos.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2245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4315968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4608576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Ejecuta y actualiza sus órdenes asignadas, registra horas y cambia estados permitidos.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52852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51383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513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5376672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Autenticación JWT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463040" y="5669280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y segura; los permisos se reflejan también en la interfaz.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88773"/>
            <a:ext cx="1375150" cy="30175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11633"/>
            <a:ext cx="137515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TRAZABILIDAD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Auditoría y seguridad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operación queda registrada: quién, cuándo y qué hizo.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Registro completo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Altas, modificaciones y borrados con usuario, rol y fecha.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Filtros avanzados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categoría, acción, entidad, usuario y rango de fechas.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Datos saneados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cuerpo de la petición nunca incluye contraseñas ni claves.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Retención configurable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cuánto tiempo se conservan los registros.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🚫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Errores claros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Accesos no autorizados devuelven 401/403 con mensajes explícitos.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✅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 rodeos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permisos no se pueden saltar desde el frontend.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250864" cy="30175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640079" y="502920"/>
            <a:ext cx="12508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TECNOLOGÍA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Stack y despliegue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 moderna, todo el entorno se levanta con un solo comando.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Frontend — Angular 21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PrimeNG, signals, zoneless y lazy loading.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Backend — Spring Boot 4.1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21 con seguridad aplicada por métodos.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PostgreSQL 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Migraciones versionadas y control de esquema.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PWA instalable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Sincronización offline con caché y cola de cambios.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🐳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Docker Compose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Despliegue completo desde cero en un solo comando.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Seguro por defecto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JWT, CORS configurable y respuestas de error en JSON.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50697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506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DISEÑO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Experiencia de usuario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interfaz moderna, coherente y accesible en cada pantalla.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Formularios modernos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Etiquetas de color, iconos y campos destacados.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Listados potentes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Ordenables y filtrables por columna, con búsqueda global.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🌗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Claro / oscuro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Presets de color y soporte multi-idioma.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🌐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Landing pública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de la aplicación antes de iniciar sesión.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 en todas partes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 accesible desde cualquier pantalla.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📶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Offline-first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app sigue funcionando sin conexión.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1315</Words>
  <Application>Microsoft Office PowerPoint</Application>
  <PresentationFormat>Widescreen</PresentationFormat>
  <Paragraphs>293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GMAO CMMS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GMAO CMMS — Presentación</dc:title>
  <dc:subject>PptxGenJS Presentation</dc:subject>
  <dc:creator>GMAO CMMS</dc:creator>
  <cp:lastModifiedBy>Juan Antonio Ruiz</cp:lastModifiedBy>
  <cp:revision>2</cp:revision>
  <dcterms:created xsi:type="dcterms:W3CDTF">2026-08-23T22:00:48Z</dcterms:created>
  <dcterms:modified xsi:type="dcterms:W3CDTF">2026-08-23T22:12:28Z</dcterms:modified>
</cp:coreProperties>
</file>